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5259A11-AEB4-614D-8F17-B6614B8B13C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Untitled Section" id="{7E0F4B52-C871-1644-8D70-89F24989468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3B7A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Louis Philippe</c:v>
                </c:pt>
                <c:pt idx="1">
                  <c:v>Van Heusen</c:v>
                </c:pt>
                <c:pt idx="2">
                  <c:v>Peter England</c:v>
                </c:pt>
                <c:pt idx="3">
                  <c:v>Allen Solly</c:v>
                </c:pt>
                <c:pt idx="4">
                  <c:v>American Eagle</c:v>
                </c:pt>
                <c:pt idx="5">
                  <c:v>Reebok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618</c:v>
                </c:pt>
                <c:pt idx="1">
                  <c:v>576</c:v>
                </c:pt>
                <c:pt idx="2">
                  <c:v>540</c:v>
                </c:pt>
                <c:pt idx="3">
                  <c:v>529</c:v>
                </c:pt>
                <c:pt idx="4">
                  <c:v>182</c:v>
                </c:pt>
                <c:pt idx="5">
                  <c:v>203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07-B844-9406-A4A106E87D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6B65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Louis Philippe</c:v>
                </c:pt>
                <c:pt idx="1">
                  <c:v>Van Heusen</c:v>
                </c:pt>
                <c:pt idx="2">
                  <c:v>Peter England</c:v>
                </c:pt>
                <c:pt idx="3">
                  <c:v>Allen Solly</c:v>
                </c:pt>
                <c:pt idx="4">
                  <c:v>American Eagle</c:v>
                </c:pt>
                <c:pt idx="5">
                  <c:v>Reebok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36</c:v>
                </c:pt>
                <c:pt idx="2">
                  <c:v>42</c:v>
                </c:pt>
                <c:pt idx="3">
                  <c:v>55</c:v>
                </c:pt>
                <c:pt idx="4">
                  <c:v>20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07-B844-9406-A4A106E87D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B23A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Louis Philippe</c:v>
                </c:pt>
                <c:pt idx="1">
                  <c:v>Van Heusen</c:v>
                </c:pt>
                <c:pt idx="2">
                  <c:v>Peter England</c:v>
                </c:pt>
                <c:pt idx="3">
                  <c:v>Allen Solly</c:v>
                </c:pt>
                <c:pt idx="4">
                  <c:v>American Eagle</c:v>
                </c:pt>
                <c:pt idx="5">
                  <c:v>Reebok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117</c:v>
                </c:pt>
                <c:pt idx="1">
                  <c:v>129</c:v>
                </c:pt>
                <c:pt idx="2">
                  <c:v>125</c:v>
                </c:pt>
                <c:pt idx="3">
                  <c:v>158</c:v>
                </c:pt>
                <c:pt idx="4">
                  <c:v>51</c:v>
                </c:pt>
                <c:pt idx="5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07-B844-9406-A4A106E87D8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DE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B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C9962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1B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Store Experience</c:v>
                </c:pt>
                <c:pt idx="1">
                  <c:v>Customer Service</c:v>
                </c:pt>
                <c:pt idx="2">
                  <c:v>Product Quality</c:v>
                </c:pt>
                <c:pt idx="3">
                  <c:v>Pricing</c:v>
                </c:pt>
                <c:pt idx="4">
                  <c:v>Fit &amp; Sizing</c:v>
                </c:pt>
                <c:pt idx="5">
                  <c:v>Delivery &amp; Returns</c:v>
                </c:pt>
                <c:pt idx="6">
                  <c:v>General Feedback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1321</c:v>
                </c:pt>
                <c:pt idx="1">
                  <c:v>724</c:v>
                </c:pt>
                <c:pt idx="2">
                  <c:v>493</c:v>
                </c:pt>
                <c:pt idx="3">
                  <c:v>485</c:v>
                </c:pt>
                <c:pt idx="4">
                  <c:v>280</c:v>
                </c:pt>
                <c:pt idx="5">
                  <c:v>107</c:v>
                </c:pt>
                <c:pt idx="6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D5-9149-944B-5C0029A017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1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DE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B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5C2A4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1B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General Feedback</c:v>
                </c:pt>
                <c:pt idx="1">
                  <c:v>Recommendation</c:v>
                </c:pt>
                <c:pt idx="2">
                  <c:v>Complaint</c:v>
                </c:pt>
                <c:pt idx="3">
                  <c:v>Comparison</c:v>
                </c:pt>
                <c:pt idx="4">
                  <c:v>Query</c:v>
                </c:pt>
                <c:pt idx="5">
                  <c:v>Purchase Intent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2113</c:v>
                </c:pt>
                <c:pt idx="1">
                  <c:v>918</c:v>
                </c:pt>
                <c:pt idx="2">
                  <c:v>426</c:v>
                </c:pt>
                <c:pt idx="3">
                  <c:v>32</c:v>
                </c:pt>
                <c:pt idx="4">
                  <c:v>19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DE-B54A-AE64-3A17FA3E31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DE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B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209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CDAC-FCAB-23F5-C983-ACE51FE26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9F6EE-3399-E1D2-DF38-A48FEAEA2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82BBD-8F5E-919E-CB7D-3D731AC11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6970A-7FC0-FCE7-DB2A-97182A4A56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89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2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of the Customer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(VoC-F) — Sentiment &amp; Intent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B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Allen Solly · Louis Philippe · Van Heusen · Peter England · American Eagle · Reebok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3,512 customer reviews  ·  6 brands  ·  5 platforms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3E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reviews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C2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3,512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421 in the pilot sample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64992" y="12801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3E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02152" y="1417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positive sentiment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02152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C2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152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 negative, 6% neutral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81344" y="12801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3E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18504" y="1417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brand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8504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C2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Louis Philippe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18504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positive, 4.14 avg rating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97696" y="12801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3E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34856" y="1417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Weakest brand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34856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C2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Reebok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34856" y="22402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 positive, 3.65 avg rating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Experience and Customer Service are the two largest feedback drivers across all 6 brands — together over half of all categorized feedback.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brand skews positive (69-80%), consistent with typical retail review patterns, but Store Experience is also the single largest source of negative feedback for every brand.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complaints are notably concentrated in Van Heusen and Allen Solly relative to other brands.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of Customer — Fashion (VoC-F) | ABLBL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3,512-row dataset was built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BF8F6"/>
          </a:solidFill>
          <a:ln w="9525">
            <a:solidFill>
              <a:srgbClr val="E5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87168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collection via Playwright (headless browser) for Google Reviews and MouthShut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4992" y="1554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BF8F6"/>
          </a:solidFill>
          <a:ln w="9525">
            <a:solidFill>
              <a:srgbClr val="E5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02152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02152" y="2148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02152" y="2487168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collection for Myntra, Twitter, and Instagram after automated scraping was blocked by platform-level bot detection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1554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BF8F6"/>
          </a:solidFill>
          <a:ln w="9525">
            <a:solidFill>
              <a:srgbClr val="E5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18504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18504" y="2148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&amp; dedupe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18504" y="2487168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sources combined into one schema, de-duplicated by a content hash to prevent repeat rows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97696" y="15544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BF8F6"/>
          </a:solidFill>
          <a:ln w="9525">
            <a:solidFill>
              <a:srgbClr val="E5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34856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9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34856" y="2148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34856" y="2487168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via VADER (lexicon-based); intent and driver type via keyword classification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coverage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7498080" cy="210312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Reviews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(Playwright)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Myntra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 by bot detection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MouthShut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(Playwright)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Twitter / 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access restricted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login for API access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of Customer — Fashion (VoC-F) | ABLBL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by brand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097280"/>
          <a:ext cx="1106424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of Customer — Fashion (VoC-F) | ABLBL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customers talk about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driver categories, all brands combined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110642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of Customer — Fashion (VoC-F) | ABLBL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negative drivers by brand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Experience is the #1 negative driver for every brand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BF8F6"/>
          </a:solidFill>
          <a:ln w="9525">
            <a:solidFill>
              <a:srgbClr val="E5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Allen Solly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 negative reviews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Store Experience — 46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Customer Service — 30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Pricing — 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BF8F6"/>
          </a:solidFill>
          <a:ln w="9525">
            <a:solidFill>
              <a:srgbClr val="E5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 Philippe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1993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 negative reviews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23774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Store Experience — 35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Customer Service — 25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Pricing — 14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BF8F6"/>
          </a:solidFill>
          <a:ln w="9525">
            <a:solidFill>
              <a:srgbClr val="E5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Heusen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1993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 negative reviews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23774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Store Experience — 45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Pricing — 23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Customer Service — 20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BF8F6"/>
          </a:solidFill>
          <a:ln w="9525">
            <a:solidFill>
              <a:srgbClr val="E5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England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462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negative reviews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Store Experience — 38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Customer Service — 25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Product Quality — 20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402336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BF8F6"/>
          </a:solidFill>
          <a:ln w="9525">
            <a:solidFill>
              <a:srgbClr val="E5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2628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Eagle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26280" y="4462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negative reviews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48463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Store Experience — 16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Customer Service — 15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Delivery &amp; Returns — 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402336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BF8F6"/>
          </a:solidFill>
          <a:ln w="9525">
            <a:solidFill>
              <a:srgbClr val="E5DE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2104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2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Reebok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21040" y="4462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negative reviews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1040" y="48463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Store Experience — 29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Product Quality — 15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Customer Service — 12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of Customer — Fashion (VoC-F) | ABLBL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intent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customers are trying to do when they write a review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71323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18388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83880" y="2103120"/>
            <a:ext cx="32004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2B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of Customer — Fashion (VoC-F) | ABLBL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scorecard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10515600" cy="35204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rating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Louis Philippe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 Heusen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Peter England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American Eagle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Allen Solly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Reebok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B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5212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positive sentiment %, highest to lowest.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of Customer — Fashion (VoC-F) | ABLBL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A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5617A-B325-1598-D923-3D5E8CC95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A0F7C0-7C2C-A9CF-4B84-D90451281EFC}"/>
              </a:ext>
            </a:extLst>
          </p:cNvPr>
          <p:cNvSpPr/>
          <p:nvPr/>
        </p:nvSpPr>
        <p:spPr>
          <a:xfrm>
            <a:off x="731520" y="21945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 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492D1D-D95F-8C35-C42E-AFA645BB2403}"/>
              </a:ext>
            </a:extLst>
          </p:cNvPr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8D77E9-3545-F2DD-EC73-52B3C7F441E6}"/>
              </a:ext>
            </a:extLst>
          </p:cNvPr>
          <p:cNvSpPr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80DDF1-79D9-5778-A1FE-F45B186D0754}"/>
              </a:ext>
            </a:extLst>
          </p:cNvPr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31595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609</Words>
  <Application>Microsoft Macintosh PowerPoint</Application>
  <PresentationFormat>Widescreen</PresentationFormat>
  <Paragraphs>159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Rohan Kumar</cp:lastModifiedBy>
  <cp:revision>2</cp:revision>
  <dcterms:created xsi:type="dcterms:W3CDTF">2026-07-11T13:52:21Z</dcterms:created>
  <dcterms:modified xsi:type="dcterms:W3CDTF">2026-07-16T01:32:35Z</dcterms:modified>
</cp:coreProperties>
</file>